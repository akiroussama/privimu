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presentons PrivIMU, un mini-lab de securite IoT qui teste si les traces IMU anonymes peuvent devenir des quasi-identifiants comportementaux.
Le message cle est simple: pas besoin de nom, email ou visage pour creer une fuite de confidentialite.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IMU sont partout dans les objets connectes. Le risque vient du fait que la collecte peut etre invisible pour l’utilisateur et qualifiee a tort de faible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question scientifique: un signal qui ne porte aucun champ identite peut-il quand meme pointer vers une personne parmi 24?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threat model reste realiste: pas de malware, pas d’exfiltration avancee. Juste un fichier de mouvement anonyme et un classifieur.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evite l’effet tutoriel. Elle montre que le projet s’inscrit dans trois lignes de recherche etablies.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MotionSense est parfait pour notre histoire: 24 sujets, six activites, telephone en poche, 50Hz, et des signaux de mouvement exploitables.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C’est une slide de vente de l’effort: le prof peut cloner le repo, relancer le pipeline et verifier les chiffres.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methode reste simple et defendable: des fenetres de 1 seconde, normalisation par fenetre, puis features statistiques et spectrales.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split est un point que le jury technique peut attaquer. Ici, on montre explicitement qu’on evite la fuite trial-vers-trial.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prepare la demo. On explique le flux sans entrer dans le code: upload, visualisation, prediction, 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soutenance, cette slide doit devenir une demo live. Le moment fort: le fichier est anonyme mais l’app propose un Top-3 de sujets.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ne se contente pas de montrer une attaque. On montre aussi une mitigation pedagogique et on discute ses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devra etre regeneree apres entrainement. On ne met jamais un chiffre que le fichier metrics.json ne contient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L’objectif est un ton academique neutre: on demontre la fuite, puis on presente les limites et les pistes de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le projet ne vend pas seulement un resultat, il vend un effort reproductible, deployable et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22D3EE">
              <a:alpha val="12000"/>
            </a:srgbClr>
          </a:solidFill>
          <a:ln w="1016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715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2D3EE"/>
                </a:solidFill>
              </a:rPr>
              <a:t>SECURITE IOT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240280" y="50292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A78BFA">
              <a:alpha val="12000"/>
            </a:srgbClr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5715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78BFA"/>
                </a:solidFill>
              </a:rPr>
              <a:t>PRIVACY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PrivIMU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</a:rPr>
              <a:t>Motion Anonymity Attack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" y="27706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Can anonymous accelerometer + gyroscope traces reveal user identity?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749808"/>
            <a:ext cx="3246120" cy="4983480"/>
          </a:xfrm>
          <a:prstGeom prst="roundRect">
            <a:avLst>
              <a:gd name="adj" fmla="val 3099"/>
            </a:avLst>
          </a:prstGeom>
          <a:solidFill>
            <a:srgbClr val="0F172A"/>
          </a:solidFill>
          <a:ln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1115568"/>
            <a:ext cx="1371600" cy="109728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2263140"/>
            <a:ext cx="85541" cy="22032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3661" y="2483465"/>
            <a:ext cx="85541" cy="8448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9201" y="2567950"/>
            <a:ext cx="85541" cy="-5010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74742" y="2517845"/>
            <a:ext cx="85541" cy="-8255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60283" y="2435291"/>
            <a:ext cx="85541" cy="-6173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5823" y="2373558"/>
            <a:ext cx="85541" cy="-9182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1364" y="2281735"/>
            <a:ext cx="85541" cy="-16734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6905" y="2114392"/>
            <a:ext cx="85541" cy="-17011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2445" y="1944277"/>
            <a:ext cx="85541" cy="-3544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87986" y="1908830"/>
            <a:ext cx="85541" cy="14131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3526" y="2050149"/>
            <a:ext cx="85541" cy="20909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59067" y="2259241"/>
            <a:ext cx="85541" cy="14110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44608" y="2400345"/>
            <a:ext cx="85541" cy="5208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30148" y="2452427"/>
            <a:ext cx="85541" cy="3476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5689" y="2487196"/>
            <a:ext cx="85541" cy="4152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01230" y="2528725"/>
            <a:ext cx="85541" cy="-2938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6770" y="2499341"/>
            <a:ext cx="85541" cy="-16721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72311" y="2332123"/>
            <a:ext cx="85541" cy="-23797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57852" y="2094150"/>
            <a:ext cx="85541" cy="-15175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43392" y="1942396"/>
            <a:ext cx="85541" cy="1619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28933" y="1958594"/>
            <a:ext cx="85541" cy="11590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4474" y="2074500"/>
            <a:ext cx="85541" cy="10442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0014" y="2178929"/>
            <a:ext cx="85541" cy="7705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85555" y="2255988"/>
            <a:ext cx="85541" cy="11335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1095" y="2369347"/>
            <a:ext cx="85541" cy="15580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56636" y="2525152"/>
            <a:ext cx="85541" cy="9085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42177" y="2616008"/>
            <a:ext cx="85541" cy="-7921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27717" y="2536792"/>
            <a:ext cx="85541" cy="-21388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13258" y="2322910"/>
            <a:ext cx="85541" cy="-19954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98799" y="2123370"/>
            <a:ext cx="85541" cy="-8420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84339" y="2039167"/>
            <a:ext cx="85541" cy="-337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3436076"/>
            <a:ext cx="85541" cy="-457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3661" y="3431505"/>
            <a:ext cx="85541" cy="-13556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89201" y="3295936"/>
            <a:ext cx="85541" cy="-14857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74742" y="3147357"/>
            <a:ext cx="85541" cy="-8823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60283" y="3059124"/>
            <a:ext cx="85541" cy="-6124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45823" y="2997883"/>
            <a:ext cx="85541" cy="-8316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31364" y="2914719"/>
            <a:ext cx="85541" cy="-6342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16905" y="2851299"/>
            <a:ext cx="85541" cy="5281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2445" y="2904116"/>
            <a:ext cx="85541" cy="18539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87986" y="3089509"/>
            <a:ext cx="85541" cy="20562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73526" y="3295138"/>
            <a:ext cx="85541" cy="9693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59067" y="3392073"/>
            <a:ext cx="85541" cy="-25752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44608" y="3366322"/>
            <a:ext cx="85541" cy="-6335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30148" y="3302964"/>
            <a:ext cx="85541" cy="-4800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15689" y="3254956"/>
            <a:ext cx="85541" cy="-7437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01230" y="3180583"/>
            <a:ext cx="85541" cy="-14830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86770" y="3032276"/>
            <a:ext cx="85541" cy="-16645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72311" y="2865820"/>
            <a:ext cx="85541" cy="-5840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57852" y="2807410"/>
            <a:ext cx="85541" cy="10344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43392" y="2910856"/>
            <a:ext cx="85541" cy="18075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28933" y="3091615"/>
            <a:ext cx="85541" cy="13410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14474" y="3225719"/>
            <a:ext cx="85541" cy="5736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00014" y="3283086"/>
            <a:ext cx="85541" cy="4033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85555" y="3323423"/>
            <a:ext cx="85541" cy="50262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71095" y="3373684"/>
            <a:ext cx="85541" cy="-676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56636" y="3366921"/>
            <a:ext cx="85541" cy="-13351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42177" y="3233403"/>
            <a:ext cx="85541" cy="-21400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27717" y="3019403"/>
            <a:ext cx="85541" cy="-15529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213258" y="2864112"/>
            <a:ext cx="85541" cy="-969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298799" y="2854416"/>
            <a:ext cx="85541" cy="88595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384339" y="2943011"/>
            <a:ext cx="85541" cy="8803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18120" y="4249135"/>
            <a:ext cx="85541" cy="-149923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03661" y="4099213"/>
            <a:ext cx="85541" cy="-16684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989201" y="3932371"/>
            <a:ext cx="85541" cy="-88173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74742" y="3844198"/>
            <a:ext cx="85541" cy="-1732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60283" y="3826870"/>
            <a:ext cx="85541" cy="-908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45823" y="3817784"/>
            <a:ext cx="85541" cy="-703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31364" y="3810749"/>
            <a:ext cx="85541" cy="5920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16905" y="3869956"/>
            <a:ext cx="85541" cy="15603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02445" y="4025990"/>
            <a:ext cx="85541" cy="175021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87986" y="4201011"/>
            <a:ext cx="85541" cy="7427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73526" y="4275284"/>
            <a:ext cx="85541" cy="-5952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59067" y="4215764"/>
            <a:ext cx="85541" cy="-11466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44608" y="4101096"/>
            <a:ext cx="85541" cy="-8633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30148" y="4014764"/>
            <a:ext cx="85541" cy="-6230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15689" y="3952463"/>
            <a:ext cx="85541" cy="-8833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01230" y="3864130"/>
            <a:ext cx="85541" cy="-10169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86770" y="3762432"/>
            <a:ext cx="85541" cy="-2507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72311" y="3737356"/>
            <a:ext cx="85541" cy="11016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57852" y="3847521"/>
            <a:ext cx="85541" cy="18522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443392" y="4032746"/>
            <a:ext cx="85541" cy="13696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528933" y="4169714"/>
            <a:ext cx="85541" cy="3268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614474" y="4202398"/>
            <a:ext cx="85541" cy="-2241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00014" y="4179988"/>
            <a:ext cx="85541" cy="-1816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785555" y="4161822"/>
            <a:ext cx="85541" cy="-34141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871095" y="4127680"/>
            <a:ext cx="85541" cy="-10890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56636" y="4018776"/>
            <a:ext cx="85541" cy="-16939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042177" y="3849381"/>
            <a:ext cx="85541" cy="-12231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127717" y="3727063"/>
            <a:ext cx="85541" cy="1501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213258" y="3742073"/>
            <a:ext cx="85541" cy="12447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298799" y="3866547"/>
            <a:ext cx="85541" cy="12826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384339" y="3994815"/>
            <a:ext cx="85541" cy="74181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863840" y="4773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anonymous.csv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897880" y="3291840"/>
            <a:ext cx="10972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4389120" y="2880360"/>
            <a:ext cx="1463040" cy="960120"/>
          </a:xfrm>
          <a:prstGeom prst="roundRect">
            <a:avLst>
              <a:gd name="adj" fmla="val 10476"/>
            </a:avLst>
          </a:prstGeom>
          <a:solidFill>
            <a:srgbClr val="1E293B"/>
          </a:solidFill>
          <a:ln w="9525">
            <a:solidFill>
              <a:srgbClr val="22D3EE">
                <a:alpha val="85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17720" y="305409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attacker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685800" y="53035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Deliverables: repo + Colab + Streamlit + slides + report + metrics.json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les IMU sont un enjeu IoT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Les capteurs de mouvement sont discrets, permanents et souvent consideres comme peu sensibles.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28800"/>
            <a:ext cx="150876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057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phone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Smartphone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1828800"/>
            <a:ext cx="150876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057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watch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27248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Wearable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150876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057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heart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21808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Health app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150876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057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run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16368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Sport app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01200" y="1828800"/>
            <a:ext cx="150876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20574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map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10928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Mobility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3977640"/>
            <a:ext cx="9966960" cy="914400"/>
          </a:xfrm>
          <a:prstGeom prst="roundRect">
            <a:avLst>
              <a:gd name="adj" fmla="val 11000"/>
            </a:avLst>
          </a:prstGeom>
          <a:solidFill>
            <a:srgbClr val="0F172A"/>
          </a:solidFill>
          <a:ln w="9525">
            <a:solidFill>
              <a:srgbClr val="FB7185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4251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Problem: these traces are often shared as "anonymous" telemetry.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scientifique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Anonyme ne veut pas dire non re-identifiable.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00200"/>
            <a:ext cx="4800600" cy="3886200"/>
          </a:xfrm>
          <a:prstGeom prst="roundRect">
            <a:avLst>
              <a:gd name="adj" fmla="val 2588"/>
            </a:avLst>
          </a:prstGeom>
          <a:solidFill>
            <a:srgbClr val="1E293B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Signal IMU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817551"/>
            <a:ext cx="122412" cy="11456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5412" y="2932117"/>
            <a:ext cx="122412" cy="117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7823" y="2933292"/>
            <a:ext cx="122412" cy="-7385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10235" y="2859435"/>
            <a:ext cx="122412" cy="-7166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32646" y="2787770"/>
            <a:ext cx="122412" cy="-5207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55058" y="2735694"/>
            <a:ext cx="122412" cy="-7492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7470" y="2660768"/>
            <a:ext cx="122412" cy="-10838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9881" y="2552380"/>
            <a:ext cx="122412" cy="-7270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22293" y="2479671"/>
            <a:ext cx="122412" cy="4056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4705" y="2520238"/>
            <a:ext cx="122412" cy="14012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67116" y="2660357"/>
            <a:ext cx="122412" cy="14108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9528" y="2801439"/>
            <a:ext cx="122412" cy="6607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11939" y="2867518"/>
            <a:ext cx="122412" cy="718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34351" y="2874702"/>
            <a:ext cx="122412" cy="297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56763" y="2877673"/>
            <a:ext cx="122412" cy="-189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9174" y="2875780"/>
            <a:ext cx="122412" cy="-6285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1586" y="2812921"/>
            <a:ext cx="122412" cy="-14124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3997" y="2671679"/>
            <a:ext cx="122412" cy="-14398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46409" y="2527698"/>
            <a:ext cx="122412" cy="-4686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68821" y="2480833"/>
            <a:ext cx="122412" cy="6628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91232" y="2547117"/>
            <a:ext cx="122412" cy="10388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13644" y="2651001"/>
            <a:ext cx="122412" cy="7332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36055" y="2724324"/>
            <a:ext cx="122412" cy="5346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58467" y="2777791"/>
            <a:ext cx="122412" cy="7575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80879" y="2853546"/>
            <a:ext cx="122412" cy="7988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3290" y="2933434"/>
            <a:ext cx="122412" cy="518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25702" y="2938621"/>
            <a:ext cx="122412" cy="-11009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48114" y="2828530"/>
            <a:ext cx="122412" cy="-16224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0525" y="2666282"/>
            <a:ext cx="122412" cy="-10817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92937" y="2558104"/>
            <a:ext cx="122412" cy="-1603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15348" y="2542068"/>
            <a:ext cx="122412" cy="2635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3699410"/>
            <a:ext cx="122412" cy="-8126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65412" y="3618149"/>
            <a:ext cx="122412" cy="-14003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87823" y="3478113"/>
            <a:ext cx="122412" cy="-10325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10235" y="3374859"/>
            <a:ext cx="122412" cy="-4273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32646" y="3332125"/>
            <a:ext cx="122412" cy="-2810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55058" y="3304024"/>
            <a:ext cx="122412" cy="-3534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77470" y="3268676"/>
            <a:ext cx="122412" cy="729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99881" y="3275972"/>
            <a:ext cx="122412" cy="10284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22293" y="3378817"/>
            <a:ext cx="122412" cy="16331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44705" y="3542133"/>
            <a:ext cx="122412" cy="11756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67116" y="3659701"/>
            <a:ext cx="122412" cy="528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89528" y="3664981"/>
            <a:ext cx="122412" cy="-7061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11939" y="3594368"/>
            <a:ext cx="122412" cy="-6987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34351" y="3524489"/>
            <a:ext cx="122412" cy="-5129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56763" y="3473191"/>
            <a:ext cx="122412" cy="-7512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79174" y="3398063"/>
            <a:ext cx="122412" cy="-110325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1586" y="3287738"/>
            <a:ext cx="122412" cy="-7658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23997" y="3211157"/>
            <a:ext cx="122412" cy="3623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46409" y="3247387"/>
            <a:ext cx="122412" cy="13757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68821" y="3384963"/>
            <a:ext cx="122412" cy="14137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91232" y="3526332"/>
            <a:ext cx="122412" cy="6831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13644" y="3594650"/>
            <a:ext cx="122412" cy="9922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36055" y="3604572"/>
            <a:ext cx="122412" cy="569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958467" y="3610270"/>
            <a:ext cx="122412" cy="99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80879" y="3611268"/>
            <a:ext cx="122412" cy="-6033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3290" y="3550930"/>
            <a:ext cx="122412" cy="-14061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25702" y="3410320"/>
            <a:ext cx="122412" cy="-14623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48114" y="3264083"/>
            <a:ext cx="122412" cy="-5107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0525" y="3213010"/>
            <a:ext cx="122412" cy="6233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92937" y="3275349"/>
            <a:ext cx="122412" cy="10171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15348" y="3377067"/>
            <a:ext cx="122412" cy="7281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43000" y="4267003"/>
            <a:ext cx="122412" cy="-16292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65412" y="4104075"/>
            <a:ext cx="122412" cy="-9925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87823" y="4004821"/>
            <a:ext cx="122412" cy="-407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10235" y="4000751"/>
            <a:ext cx="122412" cy="3632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32646" y="4037078"/>
            <a:ext cx="122412" cy="2846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55058" y="4065544"/>
            <a:ext cx="122412" cy="44521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77470" y="4110066"/>
            <a:ext cx="122412" cy="10536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99881" y="4215429"/>
            <a:ext cx="122412" cy="13934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122293" y="4354774"/>
            <a:ext cx="122412" cy="7696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244705" y="4431739"/>
            <a:ext cx="122412" cy="-4718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367116" y="4384558"/>
            <a:ext cx="122412" cy="-12678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89528" y="4257770"/>
            <a:ext cx="122412" cy="-11061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611939" y="4147152"/>
            <a:ext cx="122412" cy="-5563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34351" y="4091522"/>
            <a:ext cx="122412" cy="-3870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856763" y="4052814"/>
            <a:ext cx="122412" cy="-5091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79174" y="4001899"/>
            <a:ext cx="122412" cy="-1920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01586" y="3982700"/>
            <a:ext cx="122412" cy="7695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23997" y="4059652"/>
            <a:ext cx="122412" cy="15856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46409" y="4218220"/>
            <a:ext cx="122412" cy="13978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68821" y="4358007"/>
            <a:ext cx="122412" cy="3779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91232" y="4395802"/>
            <a:ext cx="122412" cy="-48193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13644" y="4347609"/>
            <a:ext cx="122412" cy="-60862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836055" y="4286748"/>
            <a:ext cx="122412" cy="-4545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958467" y="4241290"/>
            <a:ext cx="122412" cy="-6936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080879" y="4171922"/>
            <a:ext cx="122412" cy="-11618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203290" y="4055736"/>
            <a:ext cx="122412" cy="-10336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325702" y="3952369"/>
            <a:ext cx="122412" cy="-689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448114" y="3951680"/>
            <a:ext cx="122412" cy="114263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570525" y="4065943"/>
            <a:ext cx="122412" cy="14375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692937" y="4209698"/>
            <a:ext cx="122412" cy="8613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815348" y="4295835"/>
            <a:ext cx="122412" cy="26671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43000" y="4754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 name. No email. No face.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537960" y="1600200"/>
            <a:ext cx="4663440" cy="3886200"/>
          </a:xfrm>
          <a:prstGeom prst="roundRect">
            <a:avLst>
              <a:gd name="adj" fmla="val 2588"/>
            </a:avLst>
          </a:prstGeom>
          <a:solidFill>
            <a:srgbClr val="1E293B"/>
          </a:solidFill>
          <a:ln w="9525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580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</a:rPr>
              <a:t>Identity posterior</a:t>
            </a:r>
            <a:endParaRPr lang="en-US" sz="1800" dirty="0"/>
          </a:p>
        </p:txBody>
      </p:sp>
      <p:sp>
        <p:nvSpPr>
          <p:cNvPr id="108" name="Text 106"/>
          <p:cNvSpPr/>
          <p:nvPr/>
        </p:nvSpPr>
        <p:spPr>
          <a:xfrm>
            <a:off x="6903720" y="2514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Subject 07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595360" y="2542032"/>
            <a:ext cx="3108960" cy="1645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03720" y="31821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Subject 12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595360" y="3209544"/>
            <a:ext cx="205740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903720" y="38496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Subject 03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8595360" y="3877056"/>
            <a:ext cx="1463040" cy="1645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03720" y="47548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Hypothesis: motion traces act as behavioral quasi-identifiers.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5715000" y="3429000"/>
            <a:ext cx="7589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model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 attaquant modeste, pas un laboratoire militaire.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20240"/>
            <a:ext cx="2240280" cy="2514600"/>
          </a:xfrm>
          <a:prstGeom prst="roundRect">
            <a:avLst>
              <a:gd name="adj" fmla="val 4490"/>
            </a:avLst>
          </a:prstGeom>
          <a:solidFill>
            <a:srgbClr val="1E293B"/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84832"/>
            <a:ext cx="320040" cy="320040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Enrollment 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78408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Traces publiques ou historiques pour apprendre les signatures.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081528" y="3182112"/>
            <a:ext cx="457200" cy="0"/>
          </a:xfrm>
          <a:prstGeom prst="line">
            <a:avLst/>
          </a:prstGeom>
          <a:noFill/>
          <a:ln w="1651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66160" y="1920240"/>
            <a:ext cx="2240280" cy="2514600"/>
          </a:xfrm>
          <a:prstGeom prst="roundRect">
            <a:avLst>
              <a:gd name="adj" fmla="val 4490"/>
            </a:avLst>
          </a:prstGeom>
          <a:solidFill>
            <a:srgbClr val="1E293B"/>
          </a:solidFill>
          <a:ln w="9525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2084832"/>
            <a:ext cx="320040" cy="320040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7328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Anonymous IMU CSV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67328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Acceleration + gyroscope-derived signal, no explicit ID.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870448" y="3182112"/>
            <a:ext cx="457200" cy="0"/>
          </a:xfrm>
          <a:prstGeom prst="line">
            <a:avLst/>
          </a:prstGeom>
          <a:noFill/>
          <a:ln w="1651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1920240"/>
            <a:ext cx="2240280" cy="2514600"/>
          </a:xfrm>
          <a:prstGeom prst="roundRect">
            <a:avLst>
              <a:gd name="adj" fmla="val 4490"/>
            </a:avLst>
          </a:prstGeom>
          <a:solidFill>
            <a:srgbClr val="1E293B"/>
          </a:solidFill>
          <a:ln w="9525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084832"/>
            <a:ext cx="320040" cy="32004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6248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Classifier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56248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Random Forest or 1D-CNN, CPU-friendly.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659368" y="3182112"/>
            <a:ext cx="457200" cy="0"/>
          </a:xfrm>
          <a:prstGeom prst="line">
            <a:avLst/>
          </a:prstGeom>
          <a:noFill/>
          <a:ln w="1651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1920240"/>
            <a:ext cx="2240280" cy="2514600"/>
          </a:xfrm>
          <a:prstGeom prst="roundRect">
            <a:avLst>
              <a:gd name="adj" fmla="val 4490"/>
            </a:avLst>
          </a:prstGeom>
          <a:solidFill>
            <a:srgbClr val="1E293B"/>
          </a:solidFill>
          <a:ln w="9525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99448" y="2084832"/>
            <a:ext cx="320040" cy="320040"/>
          </a:xfrm>
          <a:prstGeom prst="rect">
            <a:avLst/>
          </a:prstGeom>
          <a:solidFill>
            <a:srgbClr val="FB718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45168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Top-3 identity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45168" y="3154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4A3B8"/>
                </a:solidFill>
              </a:rPr>
              <a:t>Posterior over 24 enrolled subjects.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103120" y="5074920"/>
            <a:ext cx="8046720" cy="50292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9525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52303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BF24"/>
                </a:solidFill>
              </a:rPr>
              <a:t>Privacy framing: this is an academic defensive demo, using a public dataset.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Positionnement scientifique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PrivIMU relie HAR, biometrie comportementale et privacy IoT.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828800"/>
            <a:ext cx="2651760" cy="2103120"/>
          </a:xfrm>
          <a:prstGeom prst="ellipse">
            <a:avLst/>
          </a:prstGeom>
          <a:solidFill>
            <a:srgbClr val="22D3EE">
              <a:alpha val="14000"/>
            </a:srgbClr>
          </a:solidFill>
          <a:ln w="1524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651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HAR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activity recognition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2651760" cy="2103120"/>
          </a:xfrm>
          <a:prstGeom prst="ellipse">
            <a:avLst/>
          </a:prstGeom>
          <a:solidFill>
            <a:srgbClr val="A78BFA">
              <a:alpha val="14000"/>
            </a:srgbClr>
          </a:solidFill>
          <a:ln w="1524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651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Behavioral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biometrics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gait / motion signatures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17520" y="3108960"/>
            <a:ext cx="2651760" cy="2103120"/>
          </a:xfrm>
          <a:prstGeom prst="ellipse">
            <a:avLst/>
          </a:prstGeom>
          <a:solidFill>
            <a:srgbClr val="FB7185">
              <a:alpha val="14000"/>
            </a:srgbClr>
          </a:solidFill>
          <a:ln w="1524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931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Sensor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privacy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4544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leakage + defenses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35240" y="1691640"/>
            <a:ext cx="3429000" cy="3794760"/>
          </a:xfrm>
          <a:prstGeom prst="roundRect">
            <a:avLst>
              <a:gd name="adj" fmla="val 293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Our gap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09560" y="2633472"/>
            <a:ext cx="28346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Closed-set identity attack on MotionSense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pipeline, not only slides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with privacy entropy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discussion: noise, minimization, edge, DP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MotionSense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Public IMU dataset collected from smartphone motion sensors.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08760"/>
            <a:ext cx="187452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55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24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data subjects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971800" y="1508760"/>
            <a:ext cx="187452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655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</a:rPr>
              <a:t>6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108960" y="2011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activities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074920" y="1508760"/>
            <a:ext cx="187452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655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50 Hz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12080" y="2011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sampling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178040" y="1508760"/>
            <a:ext cx="187452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655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iPhone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0" y="2011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device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281160" y="1508760"/>
            <a:ext cx="187452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16550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pocket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18320" y="2011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placement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868680" y="2971800"/>
            <a:ext cx="5303520" cy="2240280"/>
          </a:xfrm>
          <a:prstGeom prst="roundRect">
            <a:avLst>
              <a:gd name="adj" fmla="val 449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Activities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97280" y="373075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22D3EE">
              <a:alpha val="12000"/>
            </a:srgbClr>
          </a:solidFill>
          <a:ln w="1016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37993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2D3EE"/>
                </a:solidFill>
              </a:rPr>
              <a:t>walking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2697480" y="373075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34D399">
              <a:alpha val="12000"/>
            </a:srgbClr>
          </a:solidFill>
          <a:ln w="1016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7993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4D399"/>
                </a:solidFill>
              </a:rPr>
              <a:t>jogging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297680" y="373075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A78BFA">
              <a:alpha val="12000"/>
            </a:srgbClr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7993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78BFA"/>
                </a:solidFill>
              </a:rPr>
              <a:t>upstairs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097280" y="427939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38BDF8">
              <a:alpha val="12000"/>
            </a:srgbClr>
          </a:solidFill>
          <a:ln w="1016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43479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8BDF8"/>
                </a:solidFill>
              </a:rPr>
              <a:t>downstairs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2697480" y="427939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FBBF24">
              <a:alpha val="12000"/>
            </a:srgbClr>
          </a:solidFill>
          <a:ln w="1016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43479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BBF24"/>
                </a:solidFill>
              </a:rPr>
              <a:t>sitting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4297680" y="4279392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FB7185">
              <a:alpha val="12000"/>
            </a:srgbClr>
          </a:solidFill>
          <a:ln w="10160">
            <a:solidFill>
              <a:srgbClr val="FB7185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43479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B7185"/>
                </a:solidFill>
              </a:rPr>
              <a:t>standing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537960" y="2971800"/>
            <a:ext cx="4663440" cy="2240280"/>
          </a:xfrm>
          <a:prstGeom prst="roundRect">
            <a:avLst>
              <a:gd name="adj" fmla="val 449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3246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Channels used by PrivIMU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812280" y="3749040"/>
            <a:ext cx="3840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rotationRate.x/y/z</a:t>
            </a:r>
            <a:endParaRPr lang="en-US" sz="1050" dirty="0"/>
          </a:p>
          <a:p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userAcceleration.x/y/z</a:t>
            </a:r>
            <a:endParaRPr lang="en-US" sz="1050" dirty="0"/>
          </a:p>
          <a:p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1-second windows with 50% overlap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reproductible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Chaque chiffre doit venir du code et de reports/metrics.json.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48840"/>
            <a:ext cx="1783080" cy="1143000"/>
          </a:xfrm>
          <a:prstGeom prst="roundRect">
            <a:avLst>
              <a:gd name="adj" fmla="val 8800"/>
            </a:avLst>
          </a:prstGeom>
          <a:solidFill>
            <a:srgbClr val="1E293B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23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download.py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770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MotionSense ZIP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96312" y="2724912"/>
            <a:ext cx="411480" cy="0"/>
          </a:xfrm>
          <a:prstGeom prst="line">
            <a:avLst/>
          </a:prstGeom>
          <a:noFill/>
          <a:ln w="1524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44368" y="2148840"/>
            <a:ext cx="1783080" cy="1143000"/>
          </a:xfrm>
          <a:prstGeom prst="roundRect">
            <a:avLst>
              <a:gd name="adj" fmla="val 8800"/>
            </a:avLst>
          </a:prstGeom>
          <a:solidFill>
            <a:srgbClr val="1E293B"/>
          </a:solidFill>
          <a:ln w="952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1528" y="2423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81528" y="2770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CSV -&gt; arrays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2724912"/>
            <a:ext cx="411480" cy="0"/>
          </a:xfrm>
          <a:prstGeom prst="line">
            <a:avLst/>
          </a:prstGeom>
          <a:noFill/>
          <a:ln w="1524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02936" y="2148840"/>
            <a:ext cx="1783080" cy="1143000"/>
          </a:xfrm>
          <a:prstGeom prst="roundRect">
            <a:avLst>
              <a:gd name="adj" fmla="val 8800"/>
            </a:avLst>
          </a:prstGeom>
          <a:solidFill>
            <a:srgbClr val="1E293B"/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2423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features.py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0096" y="2770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windows + features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13448" y="2724912"/>
            <a:ext cx="411480" cy="0"/>
          </a:xfrm>
          <a:prstGeom prst="line">
            <a:avLst/>
          </a:prstGeom>
          <a:noFill/>
          <a:ln w="1524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61504" y="2148840"/>
            <a:ext cx="1783080" cy="1143000"/>
          </a:xfrm>
          <a:prstGeom prst="roundRect">
            <a:avLst>
              <a:gd name="adj" fmla="val 8800"/>
            </a:avLst>
          </a:prstGeom>
          <a:solidFill>
            <a:srgbClr val="1E293B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98664" y="2423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train.py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98664" y="2770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RF / CNN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272016" y="2724912"/>
            <a:ext cx="411480" cy="0"/>
          </a:xfrm>
          <a:prstGeom prst="line">
            <a:avLst/>
          </a:prstGeom>
          <a:noFill/>
          <a:ln w="1524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20072" y="2148840"/>
            <a:ext cx="1783080" cy="1143000"/>
          </a:xfrm>
          <a:prstGeom prst="roundRect">
            <a:avLst>
              <a:gd name="adj" fmla="val 8800"/>
            </a:avLst>
          </a:prstGeom>
          <a:solidFill>
            <a:srgbClr val="1E293B"/>
          </a:solidFill>
          <a:ln w="9525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57232" y="2423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evaluate.py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57232" y="2770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metrics + gates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43400"/>
            <a:ext cx="8503920" cy="749808"/>
          </a:xfrm>
          <a:prstGeom prst="roundRect">
            <a:avLst>
              <a:gd name="adj" fmla="val 13415"/>
            </a:avLst>
          </a:prstGeom>
          <a:solidFill>
            <a:srgbClr val="0F172A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45902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Rule: no manual metric in slides or report. Source of truth = reports/metrics.json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and features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From raw time-series to identity-classification features.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00200"/>
            <a:ext cx="3749040" cy="4160520"/>
          </a:xfrm>
          <a:prstGeom prst="roundRect">
            <a:avLst>
              <a:gd name="adj" fmla="val 2683"/>
            </a:avLst>
          </a:prstGeom>
          <a:solidFill>
            <a:srgbClr val="1E293B"/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Windowing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97280" y="2879715"/>
            <a:ext cx="95865" cy="15457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3145" y="3034285"/>
            <a:ext cx="95865" cy="1933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9009" y="3053622"/>
            <a:ext cx="95865" cy="-7980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4874" y="2973822"/>
            <a:ext cx="95865" cy="-8475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0738" y="2889064"/>
            <a:ext cx="95865" cy="-6196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6603" y="2827099"/>
            <a:ext cx="95865" cy="-8980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2467" y="2737294"/>
            <a:ext cx="95865" cy="-13736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68332" y="2599932"/>
            <a:ext cx="95865" cy="-10463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4196" y="2495296"/>
            <a:ext cx="95865" cy="3023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0061" y="2525533"/>
            <a:ext cx="95865" cy="16138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5925" y="2686914"/>
            <a:ext cx="95865" cy="17691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51790" y="2863825"/>
            <a:ext cx="95865" cy="9218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7654" y="2956006"/>
            <a:ext cx="95865" cy="1795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519" y="2973959"/>
            <a:ext cx="95865" cy="1028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39383" y="2984240"/>
            <a:ext cx="95865" cy="719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35248" y="2991437"/>
            <a:ext cx="95865" cy="-6505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31112" y="2926383"/>
            <a:ext cx="95865" cy="-16802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26977" y="2758363"/>
            <a:ext cx="95865" cy="-18585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22841" y="2572509"/>
            <a:ext cx="95865" cy="-7653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8706" y="2495976"/>
            <a:ext cx="95865" cy="6540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4570" y="2561382"/>
            <a:ext cx="95865" cy="12205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10435" y="2683433"/>
            <a:ext cx="95865" cy="9102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6299" y="2774461"/>
            <a:ext cx="95865" cy="6657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02164" y="2841035"/>
            <a:ext cx="95865" cy="9522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8028" y="2936264"/>
            <a:ext cx="95865" cy="10825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93893" y="3044515"/>
            <a:ext cx="95865" cy="2445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9757" y="3068974"/>
            <a:ext cx="95865" cy="-11992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85622" y="2949048"/>
            <a:ext cx="95865" cy="-19771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81486" y="2751333"/>
            <a:ext cx="95865" cy="-14411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77351" y="2607216"/>
            <a:ext cx="95865" cy="-3315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73215" y="2574061"/>
            <a:ext cx="95865" cy="2388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08760" y="2331720"/>
            <a:ext cx="1051560" cy="914400"/>
          </a:xfrm>
          <a:prstGeom prst="rect">
            <a:avLst/>
          </a:prstGeom>
          <a:solidFill>
            <a:srgbClr val="22D3EE">
              <a:alpha val="12000"/>
            </a:srgbClr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72768" y="34290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50 samples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= 1s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57400" y="2331720"/>
            <a:ext cx="1051560" cy="914400"/>
          </a:xfrm>
          <a:prstGeom prst="rect">
            <a:avLst/>
          </a:prstGeom>
          <a:solidFill>
            <a:srgbClr val="A78BFA">
              <a:alpha val="12000"/>
            </a:srgbClr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39112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50% overlap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83480" y="1600200"/>
            <a:ext cx="2743200" cy="4160520"/>
          </a:xfrm>
          <a:prstGeom prst="roundRect">
            <a:avLst>
              <a:gd name="adj" fmla="val 3667"/>
            </a:avLst>
          </a:prstGeom>
          <a:solidFill>
            <a:srgbClr val="1E293B"/>
          </a:solidFill>
          <a:ln w="9525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</a:rPr>
              <a:t>Feature set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303520" y="2423160"/>
            <a:ext cx="21945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/ std / min / max</a:t>
            </a:r>
            <a:endParaRPr lang="en-US" sz="1000" dirty="0"/>
          </a:p>
          <a:p>
            <a:r>
              <a:rPr lang="en-US" sz="1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 and range</a:t>
            </a:r>
            <a:endParaRPr lang="en-US" sz="1000" dirty="0"/>
          </a:p>
          <a:p>
            <a:r>
              <a:rPr lang="en-US" sz="1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skewness / kurtosis</a:t>
            </a:r>
            <a:endParaRPr lang="en-US" sz="1000" dirty="0"/>
          </a:p>
          <a:p>
            <a:r>
              <a:rPr lang="en-US" sz="1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entropy</a:t>
            </a:r>
            <a:endParaRPr lang="en-US" sz="1000" dirty="0"/>
          </a:p>
          <a:p>
            <a:r>
              <a:rPr lang="en-US" sz="1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energy-like descriptors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183880" y="1600200"/>
            <a:ext cx="3154680" cy="4160520"/>
          </a:xfrm>
          <a:prstGeom prst="roundRect">
            <a:avLst>
              <a:gd name="adj" fmla="val 3188"/>
            </a:avLst>
          </a:prstGeom>
          <a:solidFill>
            <a:srgbClr val="1E293B"/>
          </a:solidFill>
          <a:ln w="9525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Models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8503920" y="2514600"/>
            <a:ext cx="25603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baseline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1D-CNN extension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 / Top-3 metrics</a:t>
            </a:r>
            <a:endParaRPr lang="en-US" sz="1020" dirty="0"/>
          </a:p>
          <a:p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per window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protocol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Avoiding leakage is as important as the classifier.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08760"/>
            <a:ext cx="5029200" cy="4434840"/>
          </a:xfrm>
          <a:prstGeom prst="roundRect">
            <a:avLst>
              <a:gd name="adj" fmla="val 2268"/>
            </a:avLst>
          </a:prstGeom>
          <a:solidFill>
            <a:srgbClr val="1E293B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Split strategy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</a:rPr>
              <a:t>Group-based split by activity/trial prevents adjacent windows from the same trial leaking across train/test.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</a:rPr>
              <a:t>Bad split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3657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window 1 | window 2 | window 3 mixed randomly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Good split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whole trial held out as evaluation group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46520" y="1508760"/>
            <a:ext cx="4663440" cy="4434840"/>
          </a:xfrm>
          <a:prstGeom prst="roundRect">
            <a:avLst>
              <a:gd name="adj" fmla="val 2268"/>
            </a:avLst>
          </a:prstGeom>
          <a:solidFill>
            <a:srgbClr val="1E293B"/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Metrics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2423160"/>
            <a:ext cx="37490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 accuracy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Top-3 accuracy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24x24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Per-subject F1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entropy leakage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/ window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architecture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demo turns privacy leakage into something visible.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057400"/>
            <a:ext cx="2057400" cy="1965960"/>
          </a:xfrm>
          <a:prstGeom prst="roundRect">
            <a:avLst>
              <a:gd name="adj" fmla="val 5116"/>
            </a:avLst>
          </a:prstGeom>
          <a:solidFill>
            <a:srgbClr val="1E293B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Upload CSV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MotionSense-like file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3017520"/>
            <a:ext cx="548640" cy="0"/>
          </a:xfrm>
          <a:prstGeom prst="line">
            <a:avLst/>
          </a:prstGeom>
          <a:noFill/>
          <a:ln w="1651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11880" y="2057400"/>
            <a:ext cx="2057400" cy="1965960"/>
          </a:xfrm>
          <a:prstGeom prst="roundRect">
            <a:avLst>
              <a:gd name="adj" fmla="val 5116"/>
            </a:avLst>
          </a:prstGeom>
          <a:solidFill>
            <a:srgbClr val="1E293B"/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Plot signal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9476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accel + gyro channels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15000" y="3017520"/>
            <a:ext cx="548640" cy="0"/>
          </a:xfrm>
          <a:prstGeom prst="line">
            <a:avLst/>
          </a:prstGeom>
          <a:noFill/>
          <a:ln w="1651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55080" y="2057400"/>
            <a:ext cx="2057400" cy="1965960"/>
          </a:xfrm>
          <a:prstGeom prst="roundRect">
            <a:avLst>
              <a:gd name="adj" fmla="val 5116"/>
            </a:avLst>
          </a:prstGeom>
          <a:solidFill>
            <a:srgbClr val="1E293B"/>
          </a:solidFill>
          <a:ln w="9525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Predict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3796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Top-3 subject IDs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58200" y="3017520"/>
            <a:ext cx="548640" cy="0"/>
          </a:xfrm>
          <a:prstGeom prst="line">
            <a:avLst/>
          </a:prstGeom>
          <a:noFill/>
          <a:ln w="1651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2057400"/>
            <a:ext cx="2057400" cy="1965960"/>
          </a:xfrm>
          <a:prstGeom prst="roundRect">
            <a:avLst>
              <a:gd name="adj" fmla="val 5116"/>
            </a:avLst>
          </a:prstGeom>
          <a:solidFill>
            <a:srgbClr val="1E293B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Defend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8116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Gaussian noise slider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4709160"/>
            <a:ext cx="7498080" cy="594360"/>
          </a:xfrm>
          <a:prstGeom prst="roundRect">
            <a:avLst>
              <a:gd name="adj" fmla="val 16923"/>
            </a:avLst>
          </a:prstGeom>
          <a:solidFill>
            <a:srgbClr val="0F172A"/>
          </a:solidFill>
          <a:ln w="9525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892040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BF24"/>
                </a:solidFill>
              </a:rPr>
              <a:t>Fallback mode keeps the UI clickable before training; real predictions use models/rf.joblib.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attack: from signal to Top-3 identity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signal has no explicit identity field.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63040"/>
            <a:ext cx="6400800" cy="4389120"/>
          </a:xfrm>
          <a:prstGeom prst="roundRect">
            <a:avLst>
              <a:gd name="adj" fmla="val 229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Anonymous IMU signal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5262"/>
            <a:ext cx="182880" cy="14377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889032"/>
            <a:ext cx="182880" cy="4416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2933200"/>
            <a:ext cx="182880" cy="-4495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888250"/>
            <a:ext cx="182880" cy="-6123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827013"/>
            <a:ext cx="182880" cy="-4540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781609"/>
            <a:ext cx="182880" cy="-6688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2714723"/>
            <a:ext cx="182880" cy="-114677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600046"/>
            <a:ext cx="182880" cy="-10696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493077"/>
            <a:ext cx="182880" cy="-800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485072"/>
            <a:ext cx="182880" cy="10929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2594371"/>
            <a:ext cx="182880" cy="14473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739107"/>
            <a:ext cx="182880" cy="90206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829313"/>
            <a:ext cx="182880" cy="2888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58197"/>
            <a:ext cx="182880" cy="1881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2877012"/>
            <a:ext cx="182880" cy="2107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2898089"/>
            <a:ext cx="182880" cy="-31372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2866717"/>
            <a:ext cx="182880" cy="-12303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2743683"/>
            <a:ext cx="182880" cy="-16047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2583209"/>
            <a:ext cx="182880" cy="-9081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492399"/>
            <a:ext cx="182880" cy="25403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517802"/>
            <a:ext cx="182880" cy="86814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2604616"/>
            <a:ext cx="182880" cy="73020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2677637"/>
            <a:ext cx="182880" cy="53718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2731355"/>
            <a:ext cx="182880" cy="7828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809635"/>
            <a:ext cx="182880" cy="10137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911015"/>
            <a:ext cx="182880" cy="4850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2959520"/>
            <a:ext cx="182880" cy="-6935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890165"/>
            <a:ext cx="182880" cy="-152649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737516"/>
            <a:ext cx="182880" cy="-13134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2606175"/>
            <a:ext cx="182880" cy="-47831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2558344"/>
            <a:ext cx="182880" cy="5005"/>
          </a:xfrm>
          <a:prstGeom prst="line">
            <a:avLst/>
          </a:prstGeom>
          <a:noFill/>
          <a:ln w="1651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3692394"/>
            <a:ext cx="182880" cy="-1976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80160" y="3672634"/>
            <a:ext cx="182880" cy="-113368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3559266"/>
            <a:ext cx="182880" cy="-11379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0" y="3445476"/>
            <a:ext cx="182880" cy="-6370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0" y="3381772"/>
            <a:ext cx="182880" cy="-4389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11680" y="3337882"/>
            <a:ext cx="182880" cy="-5901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94560" y="3278865"/>
            <a:ext cx="182880" cy="-3787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3240991"/>
            <a:ext cx="182880" cy="54222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0" y="3295214"/>
            <a:ext cx="182880" cy="14916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0" y="3444377"/>
            <a:ext cx="182880" cy="15220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0" y="3596583"/>
            <a:ext cx="182880" cy="61310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3657893"/>
            <a:ext cx="182880" cy="-3069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3627194"/>
            <a:ext cx="182880" cy="-53905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74720" y="3573288"/>
            <a:ext cx="182880" cy="-40502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0" y="3532787"/>
            <a:ext cx="182880" cy="-6184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0480" y="3470946"/>
            <a:ext cx="182880" cy="-11509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23360" y="3355853"/>
            <a:ext cx="182880" cy="-11933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06240" y="3236514"/>
            <a:ext cx="182880" cy="-2873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89120" y="3207778"/>
            <a:ext cx="182880" cy="92902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0" y="3300680"/>
            <a:ext cx="182880" cy="141715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3442395"/>
            <a:ext cx="182880" cy="9752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3539919"/>
            <a:ext cx="182880" cy="3769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3577617"/>
            <a:ext cx="182880" cy="2624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03520" y="3603859"/>
            <a:ext cx="182880" cy="3142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86400" y="3635286"/>
            <a:ext cx="182880" cy="-16765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69280" y="3618521"/>
            <a:ext cx="182880" cy="-112214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52160" y="3506307"/>
            <a:ext cx="182880" cy="-163376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0" y="3342931"/>
            <a:ext cx="182880" cy="-107093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3235839"/>
            <a:ext cx="182880" cy="6959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00800" y="3242797"/>
            <a:ext cx="182880" cy="76211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83680" y="3319009"/>
            <a:ext cx="182880" cy="69847"/>
          </a:xfrm>
          <a:prstGeom prst="line">
            <a:avLst/>
          </a:prstGeom>
          <a:noFill/>
          <a:ln w="16510">
            <a:solidFill>
              <a:srgbClr val="A78BFA">
                <a:alpha val="9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7280" y="4332777"/>
            <a:ext cx="182880" cy="-158091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80160" y="4174686"/>
            <a:ext cx="182880" cy="-12632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63040" y="4048359"/>
            <a:ext cx="182880" cy="-3751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45920" y="4010844"/>
            <a:ext cx="182880" cy="1507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28800" y="4025914"/>
            <a:ext cx="182880" cy="1359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11680" y="4039509"/>
            <a:ext cx="182880" cy="2411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94560" y="4063625"/>
            <a:ext cx="182880" cy="87229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77440" y="4150854"/>
            <a:ext cx="182880" cy="14626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60320" y="4297119"/>
            <a:ext cx="182880" cy="11610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0" y="4413225"/>
            <a:ext cx="182880" cy="100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26080" y="4414232"/>
            <a:ext cx="182880" cy="-10030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108960" y="4313929"/>
            <a:ext cx="182880" cy="-11245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4201474"/>
            <a:ext cx="182880" cy="-6795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74720" y="4133524"/>
            <a:ext cx="182880" cy="-4816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7600" y="4085357"/>
            <a:ext cx="182880" cy="-6589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840480" y="4019462"/>
            <a:ext cx="182880" cy="-5203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023360" y="3967425"/>
            <a:ext cx="182880" cy="3654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06240" y="4003972"/>
            <a:ext cx="182880" cy="139649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89120" y="4143621"/>
            <a:ext cx="182880" cy="15813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0" y="4301759"/>
            <a:ext cx="182880" cy="77300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0" y="4379059"/>
            <a:ext cx="182880" cy="-1613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937760" y="4362921"/>
            <a:ext cx="182880" cy="-45699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20640" y="4317222"/>
            <a:ext cx="182880" cy="-34701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303520" y="4282521"/>
            <a:ext cx="182880" cy="-55505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86400" y="4227016"/>
            <a:ext cx="182880" cy="-113529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69280" y="4113487"/>
            <a:ext cx="182880" cy="-129828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52160" y="3983659"/>
            <a:ext cx="182880" cy="-49046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35040" y="3934613"/>
            <a:ext cx="182880" cy="75037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17920" y="4009650"/>
            <a:ext cx="182880" cy="13638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00800" y="4146034"/>
            <a:ext cx="182880" cy="103063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583680" y="4249097"/>
            <a:ext cx="182880" cy="45614"/>
          </a:xfrm>
          <a:prstGeom prst="line">
            <a:avLst/>
          </a:prstGeom>
          <a:noFill/>
          <a:ln w="16510">
            <a:solidFill>
              <a:srgbClr val="34D399">
                <a:alpha val="95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97280" y="49834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rotationRate.x/y/z + userAcceleration.x/y/z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680960" y="1463040"/>
            <a:ext cx="3566160" cy="4389120"/>
          </a:xfrm>
          <a:prstGeom prst="roundRect">
            <a:avLst>
              <a:gd name="adj" fmla="val 2821"/>
            </a:avLst>
          </a:prstGeom>
          <a:solidFill>
            <a:srgbClr val="1E293B"/>
          </a:solidFill>
          <a:ln w="9525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0100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</a:rPr>
              <a:t>Top-3 posterior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8001000" y="2606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Subject 07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9281160" y="2633472"/>
            <a:ext cx="2240280" cy="1554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561320" y="2606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0.62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8001000" y="3246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Subject 12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9281160" y="3273552"/>
            <a:ext cx="1051560" cy="1554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561320" y="32461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0.18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001000" y="3886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Subject 03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9281160" y="3913632"/>
            <a:ext cx="530352" cy="1554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561320" y="3886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0.08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8001000" y="4983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Replace example bars with live app output during the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Defense demo: perturbation vs leakage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 simple noise slider turns privacy into a measurable trade-off.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463040"/>
            <a:ext cx="5029200" cy="4343400"/>
          </a:xfrm>
          <a:prstGeom prst="roundRect">
            <a:avLst>
              <a:gd name="adj" fmla="val 2316"/>
            </a:avLst>
          </a:prstGeom>
          <a:solidFill>
            <a:srgbClr val="1E293B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28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Gaussian noise slider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2880360"/>
            <a:ext cx="6858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90472" y="2724912"/>
            <a:ext cx="237744" cy="23774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31546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40280" y="2880360"/>
            <a:ext cx="6858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312" y="2724912"/>
            <a:ext cx="237744" cy="23774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13432" y="31546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0.2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46120" y="2880360"/>
            <a:ext cx="6858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02152" y="2724912"/>
            <a:ext cx="237744" cy="23774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31546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0.5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51960" y="2880360"/>
            <a:ext cx="68580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7992" y="2724912"/>
            <a:ext cx="237744" cy="23774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31546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1.0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8872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As sigma increases, identity confidence should drop and posterior entropy should rise.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1463040"/>
            <a:ext cx="4663440" cy="4343400"/>
          </a:xfrm>
          <a:prstGeom prst="roundRect">
            <a:avLst>
              <a:gd name="adj" fmla="val 2316"/>
            </a:avLst>
          </a:prstGeom>
          <a:solidFill>
            <a:srgbClr val="1E293B"/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Privacy entropy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95160" y="4572000"/>
            <a:ext cx="685800" cy="-59436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3977640"/>
            <a:ext cx="731520" cy="-54864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429000"/>
            <a:ext cx="822960" cy="-59436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2834640"/>
            <a:ext cx="1097280" cy="-4114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more privacy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40880" y="48006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less leakage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- generated, not invented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This slide is refreshed from reports/metrics.json after training.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08760"/>
            <a:ext cx="219456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55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run train-rf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Top-1 accuracy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19456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55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</a:rPr>
              <a:t>run train-rf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Top-3 accuracy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806440" y="1508760"/>
            <a:ext cx="219456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655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run train-rf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0" y="2011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Macro-F1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8275320" y="1508760"/>
            <a:ext cx="2194560" cy="80467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655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run train-rf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2011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Latency / window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51560" y="3063240"/>
            <a:ext cx="10058400" cy="2377440"/>
          </a:xfrm>
          <a:prstGeom prst="roundRect">
            <a:avLst>
              <a:gd name="adj" fmla="val 423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Evidence package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977640"/>
            <a:ext cx="47548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7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reports/metrics.json = source of truth</a:t>
            </a:r>
            <a:endParaRPr lang="en-US" sz="1070" dirty="0"/>
          </a:p>
          <a:p>
            <a:r>
              <a:rPr lang="en-US" sz="107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reports/confusion_matrix.png</a:t>
            </a:r>
            <a:endParaRPr lang="en-US" sz="1070" dirty="0"/>
          </a:p>
          <a:p>
            <a:r>
              <a:rPr lang="en-US" sz="107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reports/per_subject_f1.png</a:t>
            </a:r>
            <a:endParaRPr lang="en-US" sz="1070" dirty="0"/>
          </a:p>
          <a:p>
            <a:r>
              <a:rPr lang="en-US" sz="107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reports/privacy_entropy_curve.png</a:t>
            </a:r>
            <a:endParaRPr lang="en-US" sz="1070" dirty="0"/>
          </a:p>
          <a:p>
            <a:r>
              <a:rPr lang="en-US" sz="107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message includes Verified-By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6812280" y="3703320"/>
            <a:ext cx="3611880" cy="713232"/>
          </a:xfrm>
          <a:prstGeom prst="roundRect">
            <a:avLst>
              <a:gd name="adj" fmla="val 14103"/>
            </a:avLst>
          </a:prstGeom>
          <a:solidFill>
            <a:srgbClr val="0F172A"/>
          </a:solidFill>
          <a:ln w="9525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39136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</a:rPr>
              <a:t>No manual metric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Limits and mitigations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 strong project is honest about its assumptions.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08760"/>
            <a:ext cx="5120640" cy="4480560"/>
          </a:xfrm>
          <a:prstGeom prst="roundRect">
            <a:avLst>
              <a:gd name="adj" fmla="val 2245"/>
            </a:avLst>
          </a:prstGeom>
          <a:solidFill>
            <a:srgbClr val="1E293B"/>
          </a:solidFill>
          <a:ln w="9525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</a:rPr>
              <a:t>Limits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42062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Closed-set identification among enrolled subjects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MotionSense has 24 subjects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Phone-in-pocket setting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differs from every real deployment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defense is pedagogical, not a formal guarantee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4800600" cy="4480560"/>
          </a:xfrm>
          <a:prstGeom prst="roundRect">
            <a:avLst>
              <a:gd name="adj" fmla="val 2245"/>
            </a:avLst>
          </a:prstGeom>
          <a:solidFill>
            <a:srgbClr val="1E293B"/>
          </a:solidFill>
          <a:ln w="9525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Mitigations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2514600"/>
            <a:ext cx="39319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minimization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On-device inference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limitation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Federated learning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privacy for time-series</a:t>
            </a:r>
            <a:endParaRPr lang="en-US" sz="1100" dirty="0"/>
          </a:p>
          <a:p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retention policy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-1371600"/>
            <a:ext cx="4206240" cy="4206240"/>
          </a:xfrm>
          <a:prstGeom prst="arc">
            <a:avLst/>
          </a:prstGeom>
          <a:noFill/>
          <a:ln w="1905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754880"/>
            <a:ext cx="3657600" cy="3657600"/>
          </a:xfrm>
          <a:prstGeom prst="arc">
            <a:avLst/>
          </a:prstGeom>
          <a:noFill/>
          <a:ln w="1651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85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Takeaway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Anonymous motion data can still be privacy-sensitive.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PrivIMU is delivered as a reproducible mini-lab: repo, Colab, Streamlit demo, report, slides, tests and generated metrics.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657600"/>
            <a:ext cx="292608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pic>
        <p:nvPicPr>
          <p:cNvPr id="9" name="Image 0" descr="/mnt/data/privimu_present_work/PrivIMU_scaffold/slides/assets/qr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858768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38528" y="4041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GitHub repo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github.com/akiroussama/PrivIMU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60520" y="3657600"/>
            <a:ext cx="292608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pic>
        <p:nvPicPr>
          <p:cNvPr id="12" name="Image 1" descr="/mnt/data/privimu_present_work/PrivIMU_scaffold/slides/assets/qr_co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858768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4041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Google Colab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reproduce results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543800" y="3657600"/>
            <a:ext cx="2926080" cy="1417320"/>
          </a:xfrm>
          <a:prstGeom prst="roundRect">
            <a:avLst>
              <a:gd name="adj" fmla="val 7097"/>
            </a:avLst>
          </a:prstGeom>
          <a:solidFill>
            <a:srgbClr val="1E293B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pic>
        <p:nvPicPr>
          <p:cNvPr id="15" name="Image 2" descr="/mnt/data/privimu_present_work/PrivIMU_scaffold/slides/assets/qr_streaml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858768"/>
            <a:ext cx="82296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05088" y="4041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Streamlit demo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privimu.streamlit.app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02920" y="6510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PrivIMU - IoT Security / Motion Privacy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11265408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9525">
            <a:solidFill>
              <a:srgbClr val="334155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SUP'COM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PrivIMU - Motion Anonymity Attack</dc:title>
  <dc:subject>IoT Security project - IMU motion privacy</dc:subject>
  <dc:creator>PrivIMU Team</dc:creator>
  <cp:lastModifiedBy>PrivIMU Team</cp:lastModifiedBy>
  <cp:revision>1</cp:revision>
  <dcterms:created xsi:type="dcterms:W3CDTF">2026-05-12T21:02:39Z</dcterms:created>
  <dcterms:modified xsi:type="dcterms:W3CDTF">2026-05-12T21:02:39Z</dcterms:modified>
</cp:coreProperties>
</file>